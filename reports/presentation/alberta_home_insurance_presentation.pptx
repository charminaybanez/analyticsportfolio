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75" r:id="rId6"/>
    <p:sldId id="278" r:id="rId7"/>
    <p:sldId id="279" r:id="rId8"/>
    <p:sldId id="27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 autoAdjust="0"/>
    <p:restoredTop sz="94633" autoAdjust="0"/>
  </p:normalViewPr>
  <p:slideViewPr>
    <p:cSldViewPr snapToGrid="0">
      <p:cViewPr varScale="1">
        <p:scale>
          <a:sx n="78" d="100"/>
          <a:sy n="78" d="100"/>
        </p:scale>
        <p:origin x="15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95C5F-655E-4630-BEDD-44E8E50D51FD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9F953-D285-47F8-95F9-9ED75BB9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8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5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9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29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9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69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4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2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22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4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6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901DB216-D0C2-47B5-80EA-88DC510BA60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728A726-D960-4D2A-A462-51394936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828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Alberta Home Insurance Premium Pressure Monitor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7410659" cy="365125"/>
          </a:xfrm>
        </p:spPr>
        <p:txBody>
          <a:bodyPr/>
          <a:lstStyle/>
          <a:p>
            <a:r>
              <a:rPr lang="en-US" dirty="0" smtClean="0"/>
              <a:t>2016–2025 CPI, benchmark, and catastrophe-context analysis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SQL, Python, and Power BI Analytics Capstone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317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</a:t>
            </a:r>
            <a:br>
              <a:rPr lang="en-US" dirty="0" smtClean="0"/>
            </a:br>
            <a:r>
              <a:rPr lang="en-US" dirty="0" smtClean="0"/>
              <a:t>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867911" y="1023585"/>
            <a:ext cx="7425271" cy="2180305"/>
          </a:xfrm>
        </p:spPr>
        <p:txBody>
          <a:bodyPr anchor="b">
            <a:normAutofit/>
          </a:bodyPr>
          <a:lstStyle/>
          <a:p>
            <a:r>
              <a:rPr lang="en-US" dirty="0"/>
              <a:t>Is Alberta home insurance premium growth unusual enough to warrant deeper affordability, market, or catastrophe-risk review?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/>
              <a:t>Stakeholder: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Provincial public policy / insurance affordability analyst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Key framing: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This analysis is a review-trigger tool, not a causal proof model</a:t>
            </a:r>
            <a:r>
              <a:rPr lang="en-US" sz="1800" dirty="0" smtClean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2820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smtClean="0"/>
              <a:t>and</a:t>
            </a:r>
            <a:r>
              <a:rPr lang="en-US" dirty="0" smtClean="0"/>
              <a:t> </a:t>
            </a:r>
            <a:r>
              <a:rPr lang="en-US" dirty="0"/>
              <a:t>Analytics Workflow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Data sources: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Alberta home insurance CPI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Alberta all-items CPI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Canada home insurance CPI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Residential construction-cost context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Curated catastrophe events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Alberta auto insurance CPI sensitivity check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Workflow</a:t>
            </a:r>
            <a:r>
              <a:rPr lang="en-US" sz="1600" dirty="0" smtClean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 smtClean="0"/>
              <a:t>Raw </a:t>
            </a:r>
            <a:r>
              <a:rPr lang="en-US" sz="1600" dirty="0"/>
              <a:t>data → SQLite warehouse → </a:t>
            </a:r>
            <a:r>
              <a:rPr lang="en-US" sz="1600" dirty="0" smtClean="0"/>
              <a:t>SQL views </a:t>
            </a:r>
            <a:r>
              <a:rPr lang="en-US" sz="1600" dirty="0"/>
              <a:t>→ Python analysis → Power BI </a:t>
            </a:r>
            <a:r>
              <a:rPr lang="en-US" sz="1600" dirty="0" smtClean="0"/>
              <a:t>dashboard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Purpose: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/>
              <a:t>Show </a:t>
            </a:r>
            <a:r>
              <a:rPr lang="en-US" sz="1600" dirty="0"/>
              <a:t>technical process without overloading the audience.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276295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 smtClean="0"/>
              <a:t>Alberta Home </a:t>
            </a:r>
            <a:r>
              <a:rPr lang="en-US" dirty="0"/>
              <a:t>Insurance </a:t>
            </a:r>
            <a:r>
              <a:rPr lang="en-US" dirty="0" smtClean="0"/>
              <a:t>CPI </a:t>
            </a:r>
            <a:r>
              <a:rPr lang="en-US" sz="2800" dirty="0" smtClean="0"/>
              <a:t>Rose Faster Than Key </a:t>
            </a:r>
            <a:r>
              <a:rPr lang="en-US" sz="2800" dirty="0"/>
              <a:t>Benchmarks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150" y="1308733"/>
            <a:ext cx="7315200" cy="4240535"/>
          </a:xfrm>
        </p:spPr>
      </p:pic>
      <p:sp>
        <p:nvSpPr>
          <p:cNvPr id="4" name="Content Placeholder 3"/>
          <p:cNvSpPr>
            <a:spLocks noGrp="1"/>
          </p:cNvSpPr>
          <p:nvPr>
            <p:ph type="body" sz="half" idx="2"/>
          </p:nvPr>
        </p:nvSpPr>
        <p:spPr/>
        <p:txBody>
          <a:bodyPr anchor="t">
            <a:noAutofit/>
          </a:bodyPr>
          <a:lstStyle/>
          <a:p>
            <a:pPr marL="171450" indent="-171450"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Alberta </a:t>
            </a:r>
            <a:r>
              <a:rPr lang="en-US" sz="1200" dirty="0"/>
              <a:t>home insurance CPI: </a:t>
            </a:r>
            <a:r>
              <a:rPr lang="en-US" sz="1200" b="1" dirty="0"/>
              <a:t>+74.6%</a:t>
            </a:r>
            <a:endParaRPr lang="en-US" sz="1200" dirty="0"/>
          </a:p>
          <a:p>
            <a:pPr marL="171450" indent="-171450"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Alberta all-items CPI: </a:t>
            </a:r>
            <a:r>
              <a:rPr lang="en-US" sz="1200" b="1" dirty="0"/>
              <a:t>+27.4%</a:t>
            </a:r>
            <a:endParaRPr lang="en-US" sz="1200" dirty="0"/>
          </a:p>
          <a:p>
            <a:pPr marL="171450" indent="-171450"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Canada home insurance CPI: </a:t>
            </a:r>
            <a:r>
              <a:rPr lang="en-US" sz="1200" b="1" dirty="0"/>
              <a:t>+64.5</a:t>
            </a:r>
            <a:r>
              <a:rPr lang="en-US" sz="1200" b="1" dirty="0" smtClean="0"/>
              <a:t>%</a:t>
            </a:r>
          </a:p>
          <a:p>
            <a:pPr>
              <a:buClr>
                <a:schemeClr val="accent6"/>
              </a:buClr>
            </a:pPr>
            <a:r>
              <a:rPr lang="en-US" sz="1200" dirty="0"/>
              <a:t>Alberta home insurance CPI rose much faster than general inflation and exceeded Canada home insurance growth by 2025.</a:t>
            </a:r>
          </a:p>
        </p:txBody>
      </p:sp>
    </p:spTree>
    <p:extLst>
      <p:ext uri="{BB962C8B-B14F-4D97-AF65-F5344CB8AC3E}">
        <p14:creationId xmlns:p14="http://schemas.microsoft.com/office/powerpoint/2010/main" val="397475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1"/>
            <a:ext cx="2834640" cy="1327974"/>
          </a:xfrm>
        </p:spPr>
        <p:txBody>
          <a:bodyPr anchor="b"/>
          <a:lstStyle/>
          <a:p>
            <a:r>
              <a:rPr lang="en-US" dirty="0" smtClean="0"/>
              <a:t>Dashboard </a:t>
            </a:r>
            <a:r>
              <a:rPr lang="en-US" sz="24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(Pg.1)</a:t>
            </a:r>
            <a:br>
              <a:rPr lang="en-US" sz="24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| </a:t>
            </a:r>
            <a:r>
              <a:rPr lang="en-US" sz="2400" dirty="0" smtClean="0">
                <a:solidFill>
                  <a:schemeClr val="tx1"/>
                </a:solidFill>
              </a:rPr>
              <a:t>Executive Review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150" y="1308733"/>
            <a:ext cx="7315200" cy="424053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2128947"/>
            <a:ext cx="2834640" cy="3687219"/>
          </a:xfrm>
        </p:spPr>
        <p:txBody>
          <a:bodyPr anchor="ctr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KPI cards summarize benchmark divergence</a:t>
            </a:r>
            <a:r>
              <a:rPr lang="en-US" sz="1200" dirty="0" smtClean="0"/>
              <a:t>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Main </a:t>
            </a:r>
            <a:r>
              <a:rPr lang="en-US" sz="1200" dirty="0"/>
              <a:t>line chart compares Alberta home insurance against inflation and national insurance trends</a:t>
            </a:r>
            <a:r>
              <a:rPr lang="en-US" sz="1200" dirty="0" smtClean="0"/>
              <a:t>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Review </a:t>
            </a:r>
            <a:r>
              <a:rPr lang="en-US" sz="1200" dirty="0"/>
              <a:t>signal indicates further review may be warranted</a:t>
            </a:r>
            <a:r>
              <a:rPr lang="en-US" sz="1200" dirty="0" smtClean="0"/>
              <a:t>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Wording </a:t>
            </a:r>
            <a:r>
              <a:rPr lang="en-US" sz="1200" dirty="0"/>
              <a:t>avoids causal </a:t>
            </a:r>
            <a:r>
              <a:rPr lang="en-US" sz="1200" dirty="0" smtClean="0"/>
              <a:t>over claiming.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3462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1"/>
            <a:ext cx="2834640" cy="1327974"/>
          </a:xfrm>
        </p:spPr>
        <p:txBody>
          <a:bodyPr anchor="b"/>
          <a:lstStyle/>
          <a:p>
            <a:r>
              <a:rPr lang="en-US" dirty="0" smtClean="0"/>
              <a:t>Dashboard </a:t>
            </a:r>
            <a:r>
              <a:rPr lang="en-US" sz="24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(Pg.2)</a:t>
            </a:r>
            <a:br>
              <a:rPr lang="en-US" sz="24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| </a:t>
            </a:r>
            <a:r>
              <a:rPr lang="en-US" sz="2400" dirty="0"/>
              <a:t>Context &amp; Sensitivity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2128947"/>
            <a:ext cx="2834640" cy="3687219"/>
          </a:xfrm>
        </p:spPr>
        <p:txBody>
          <a:bodyPr anchor="ctr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Catastrophe losses cluster more heavily in later years</a:t>
            </a:r>
            <a:r>
              <a:rPr lang="en-US" sz="1200" dirty="0" smtClean="0"/>
              <a:t>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Auto </a:t>
            </a:r>
            <a:r>
              <a:rPr lang="en-US" sz="1200" dirty="0"/>
              <a:t>insurance CPI sensitivity suggests some broader insurance-market pressure</a:t>
            </a:r>
            <a:r>
              <a:rPr lang="en-US" sz="1200" dirty="0" smtClean="0"/>
              <a:t>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Home </a:t>
            </a:r>
            <a:r>
              <a:rPr lang="en-US" sz="1200" dirty="0"/>
              <a:t>insurance still exceeded auto insurance growth by 2025</a:t>
            </a:r>
            <a:r>
              <a:rPr lang="en-US" sz="1200" dirty="0" smtClean="0"/>
              <a:t>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Context </a:t>
            </a:r>
            <a:r>
              <a:rPr lang="en-US" sz="1200" dirty="0"/>
              <a:t>supports review, but does not prove causality.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150" y="1310863"/>
            <a:ext cx="7315200" cy="4236275"/>
          </a:xfrm>
        </p:spPr>
      </p:pic>
    </p:spTree>
    <p:extLst>
      <p:ext uri="{BB962C8B-B14F-4D97-AF65-F5344CB8AC3E}">
        <p14:creationId xmlns:p14="http://schemas.microsoft.com/office/powerpoint/2010/main" val="394736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1"/>
            <a:ext cx="2834640" cy="1327974"/>
          </a:xfrm>
        </p:spPr>
        <p:txBody>
          <a:bodyPr anchor="b">
            <a:normAutofit/>
          </a:bodyPr>
          <a:lstStyle/>
          <a:p>
            <a:r>
              <a:rPr lang="en-US" dirty="0" smtClean="0"/>
              <a:t>Dashboard </a:t>
            </a:r>
            <a:r>
              <a:rPr lang="en-US" sz="24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(Pg.2)</a:t>
            </a:r>
            <a:br>
              <a:rPr lang="en-US" sz="24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| </a:t>
            </a:r>
            <a:r>
              <a:rPr lang="en-US" sz="2400" dirty="0" smtClean="0"/>
              <a:t>Limitations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2128947"/>
            <a:ext cx="2834640" cy="3687219"/>
          </a:xfrm>
        </p:spPr>
        <p:txBody>
          <a:bodyPr anchor="ctr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endParaRPr lang="en-US" sz="1200" dirty="0" smtClean="0"/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Descriptive </a:t>
            </a:r>
            <a:r>
              <a:rPr lang="en-US" sz="1200" dirty="0"/>
              <a:t>and exploratory </a:t>
            </a:r>
            <a:r>
              <a:rPr lang="en-US" sz="1200" dirty="0" smtClean="0"/>
              <a:t>analysis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Catastrophe </a:t>
            </a:r>
            <a:r>
              <a:rPr lang="en-US" sz="1200" dirty="0"/>
              <a:t>events are contextual markers, not causal </a:t>
            </a:r>
            <a:r>
              <a:rPr lang="en-US" sz="1200" dirty="0" smtClean="0"/>
              <a:t>proof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Construction-cost </a:t>
            </a:r>
            <a:r>
              <a:rPr lang="en-US" sz="1200" dirty="0"/>
              <a:t>benchmark uses a 2017 </a:t>
            </a:r>
            <a:r>
              <a:rPr lang="en-US" sz="1200" dirty="0" smtClean="0"/>
              <a:t>baseline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CPI </a:t>
            </a:r>
            <a:r>
              <a:rPr lang="en-US" sz="1200" dirty="0"/>
              <a:t>data are aggregated and do not show individual policy-level </a:t>
            </a:r>
            <a:r>
              <a:rPr lang="en-US" sz="1200" dirty="0" smtClean="0"/>
              <a:t>premiums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1200" dirty="0" smtClean="0"/>
              <a:t>Auto </a:t>
            </a:r>
            <a:r>
              <a:rPr lang="en-US" sz="1200" dirty="0"/>
              <a:t>insurance CPI is a sensitivity check, not a property </a:t>
            </a:r>
            <a:r>
              <a:rPr lang="en-US" sz="1200" dirty="0" smtClean="0"/>
              <a:t>benchmark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</a:pPr>
            <a:r>
              <a:rPr lang="en-US" sz="1200" dirty="0"/>
              <a:t>Limitations define the valid use case: this dashboard supports review and follow-up investigation, not causal attribution.</a:t>
            </a:r>
          </a:p>
          <a:p>
            <a:pPr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</a:pPr>
            <a:endParaRPr lang="en-US" sz="1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150" y="1310863"/>
            <a:ext cx="7315200" cy="4236275"/>
          </a:xfrm>
        </p:spPr>
      </p:pic>
    </p:spTree>
    <p:extLst>
      <p:ext uri="{BB962C8B-B14F-4D97-AF65-F5344CB8AC3E}">
        <p14:creationId xmlns:p14="http://schemas.microsoft.com/office/powerpoint/2010/main" val="346141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Recommendation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anchor="t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Use benchmark divergence as a monitoring signal for affordability, market, and catastrophe-risk review.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 anchor="t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Compare Alberta against other provinces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Add more complete catastrophe-event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Investigate property-specific drivers such as claims severity, reinsurance, deductibles, and regional risk territories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Explore GIS or regional exposure analysis as a separate project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56032" y="1143001"/>
            <a:ext cx="2961818" cy="13279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smtClean="0"/>
              <a:t>Closing Message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10" name="Text Placeholder 3"/>
          <p:cNvSpPr txBox="1">
            <a:spLocks/>
          </p:cNvSpPr>
          <p:nvPr/>
        </p:nvSpPr>
        <p:spPr>
          <a:xfrm>
            <a:off x="256032" y="2128947"/>
            <a:ext cx="2834640" cy="3687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tabLst>
                <a:tab pos="1143000" algn="l"/>
              </a:tabLst>
              <a:defRPr sz="2000" kern="120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tabLst>
                <a:tab pos="1143000" algn="l"/>
              </a:tabLst>
              <a:defRPr sz="1800" kern="120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tabLst>
                <a:tab pos="1143000" algn="l"/>
              </a:tabLst>
              <a:defRPr sz="1600" kern="120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tabLst>
                <a:tab pos="1143000" algn="l"/>
              </a:tabLst>
              <a:defRPr sz="1400" kern="120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tabLst>
                <a:tab pos="1143000" algn="l"/>
              </a:tabLst>
              <a:defRPr sz="1400" kern="120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tabLst>
                <a:tab pos="1143000" algn="l"/>
              </a:tabLst>
              <a:defRPr sz="1400" kern="120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tabLst>
                <a:tab pos="1143000" algn="l"/>
              </a:tabLst>
              <a:defRPr sz="1400" kern="120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tabLst>
                <a:tab pos="1143000" algn="l"/>
              </a:tabLst>
              <a:defRPr sz="1400" kern="120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tabLst>
                <a:tab pos="1143000" algn="l"/>
              </a:tabLst>
              <a:defRPr sz="1400" kern="120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accent6"/>
              </a:buClr>
              <a:buNone/>
            </a:pPr>
            <a:r>
              <a:rPr lang="en-US" sz="1200" dirty="0"/>
              <a:t>The project identifies when Alberta home insurance CPI diverges from relevant benchmarks and helps stakeholders decide where deeper review is </a:t>
            </a:r>
            <a:r>
              <a:rPr lang="en-US" sz="1200" dirty="0" smtClean="0"/>
              <a:t>warranted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869269" y="6356350"/>
            <a:ext cx="6175172" cy="365125"/>
          </a:xfrm>
        </p:spPr>
        <p:txBody>
          <a:bodyPr/>
          <a:lstStyle/>
          <a:p>
            <a:r>
              <a:rPr lang="en-US" dirty="0" smtClean="0"/>
              <a:t>Charmina Ybanez | Portfolio: charminaybanez.github.io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0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ysClr val="windowText" lastClr="000000"/>
      </a:dk1>
      <a:lt1>
        <a:sysClr val="window" lastClr="FFFFFF"/>
      </a:lt1>
      <a:dk2>
        <a:srgbClr val="4A3F38"/>
      </a:dk2>
      <a:lt2>
        <a:srgbClr val="EEEDCB"/>
      </a:lt2>
      <a:accent1>
        <a:srgbClr val="818E9F"/>
      </a:accent1>
      <a:accent2>
        <a:srgbClr val="D26400"/>
      </a:accent2>
      <a:accent3>
        <a:srgbClr val="C3BA45"/>
      </a:accent3>
      <a:accent4>
        <a:srgbClr val="8A8552"/>
      </a:accent4>
      <a:accent5>
        <a:srgbClr val="F3B843"/>
      </a:accent5>
      <a:accent6>
        <a:srgbClr val="786C71"/>
      </a:accent6>
      <a:hlink>
        <a:srgbClr val="46A7CA"/>
      </a:hlink>
      <a:folHlink>
        <a:srgbClr val="B2B2B2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234</TotalTime>
  <Words>423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Corbel</vt:lpstr>
      <vt:lpstr>Wingdings</vt:lpstr>
      <vt:lpstr>Wingdings 2</vt:lpstr>
      <vt:lpstr>Frame</vt:lpstr>
      <vt:lpstr>Alberta Home Insurance Premium Pressure Monitor</vt:lpstr>
      <vt:lpstr>Business Question</vt:lpstr>
      <vt:lpstr>Data and Analytics Workflow</vt:lpstr>
      <vt:lpstr>Alberta Home Insurance CPI Rose Faster Than Key Benchmarks</vt:lpstr>
      <vt:lpstr>Dashboard (Pg.1) | Executive Review</vt:lpstr>
      <vt:lpstr>Dashboard (Pg.2) | Context &amp; Sensitivity</vt:lpstr>
      <vt:lpstr>Dashboard (Pg.2) | Limitations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Charmina Ybanez</dc:creator>
  <cp:lastModifiedBy>Charmina Ybanez</cp:lastModifiedBy>
  <cp:revision>22</cp:revision>
  <dcterms:created xsi:type="dcterms:W3CDTF">2026-07-25T20:45:35Z</dcterms:created>
  <dcterms:modified xsi:type="dcterms:W3CDTF">2026-07-26T02:25:28Z</dcterms:modified>
</cp:coreProperties>
</file>